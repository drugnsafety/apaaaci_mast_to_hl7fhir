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7003375" cy="37804725"/>
  <p:notesSz cx="6797675" cy="9926638"/>
  <p:defaultTextStyle>
    <a:defPPr>
      <a:defRPr lang="ko-KR"/>
    </a:defPPr>
    <a:lvl1pPr algn="l" defTabSz="3702050" rtl="0" eaLnBrk="0" fontAlgn="base" hangingPunct="0">
      <a:spcBef>
        <a:spcPct val="0"/>
      </a:spcBef>
      <a:spcAft>
        <a:spcPct val="0"/>
      </a:spcAft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1851025" indent="-1393825" algn="l" defTabSz="3702050" rtl="0" eaLnBrk="0" fontAlgn="base" hangingPunct="0">
      <a:spcBef>
        <a:spcPct val="0"/>
      </a:spcBef>
      <a:spcAft>
        <a:spcPct val="0"/>
      </a:spcAft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3702050" indent="-2787650" algn="l" defTabSz="3702050" rtl="0" eaLnBrk="0" fontAlgn="base" hangingPunct="0">
      <a:spcBef>
        <a:spcPct val="0"/>
      </a:spcBef>
      <a:spcAft>
        <a:spcPct val="0"/>
      </a:spcAft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5554663" indent="-4183063" algn="l" defTabSz="3702050" rtl="0" eaLnBrk="0" fontAlgn="base" hangingPunct="0">
      <a:spcBef>
        <a:spcPct val="0"/>
      </a:spcBef>
      <a:spcAft>
        <a:spcPct val="0"/>
      </a:spcAft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7405688" indent="-5576888" algn="l" defTabSz="3702050" rtl="0" eaLnBrk="0" fontAlgn="base" hangingPunct="0">
      <a:spcBef>
        <a:spcPct val="0"/>
      </a:spcBef>
      <a:spcAft>
        <a:spcPct val="0"/>
      </a:spcAft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73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07">
          <p15:clr>
            <a:srgbClr val="A4A3A4"/>
          </p15:clr>
        </p15:guide>
        <p15:guide id="2" pos="850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00"/>
    <a:srgbClr val="003B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491" autoAdjust="0"/>
    <p:restoredTop sz="94655" autoAdjust="0"/>
  </p:normalViewPr>
  <p:slideViewPr>
    <p:cSldViewPr>
      <p:cViewPr varScale="1">
        <p:scale>
          <a:sx n="23" d="100"/>
          <a:sy n="23" d="100"/>
        </p:scale>
        <p:origin x="280" y="912"/>
      </p:cViewPr>
      <p:guideLst>
        <p:guide orient="horz" pos="11907"/>
        <p:guide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DE7E009-15D1-4700-9D32-EDB7A26445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3703320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65DAAE-9942-4CAD-A010-38FA515BD9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3703320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977AA23-8123-49C5-B780-29646F8F587D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87CAB1-E6EA-48C4-9188-5B013E05FC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3703320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C15576-910F-4B7F-B169-26A937BF9B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EFEED1F-BA0C-4A61-A895-CD835DC9C33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82E2E2A-1E0E-4ED0-AE99-9C1823A40A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3703320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A49BF5-2D56-437F-865E-A227E0DB8B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3703320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00EEF5B-BE99-4FA1-8EDD-C94EEB51A0EA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BE76418-D5BB-4143-A7C2-B7AF62DAD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68513" y="744538"/>
            <a:ext cx="26606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E19546F-6B0D-4E20-A16E-2C7FB951C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2BC334-6A5F-4CFD-BD34-D1156F4D14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3703320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0144D9-815F-4D19-8088-3844C6697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AE6E200-EAF2-4104-96F4-9B2AB1F7D41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>
            <a:extLst>
              <a:ext uri="{FF2B5EF4-FFF2-40B4-BE49-F238E27FC236}">
                <a16:creationId xmlns:a16="http://schemas.microsoft.com/office/drawing/2014/main" id="{CD51A49F-64A1-4E3F-9FE1-A668334CE5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슬라이드 노트 개체 틀 2">
            <a:extLst>
              <a:ext uri="{FF2B5EF4-FFF2-40B4-BE49-F238E27FC236}">
                <a16:creationId xmlns:a16="http://schemas.microsoft.com/office/drawing/2014/main" id="{C385471C-1AA3-451A-BB67-B2554160E6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124" name="슬라이드 번호 개체 틀 3">
            <a:extLst>
              <a:ext uri="{FF2B5EF4-FFF2-40B4-BE49-F238E27FC236}">
                <a16:creationId xmlns:a16="http://schemas.microsoft.com/office/drawing/2014/main" id="{F3A42184-E679-45ED-AFC5-99FF410BA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37020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37020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37020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37020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A2C7A30-7E79-48E5-947E-1A06A44AC239}" type="slidenum">
              <a:rPr lang="ko-KR" altLang="en-US" smtClean="0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25253" y="11743970"/>
            <a:ext cx="22952869" cy="810351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050506" y="21422677"/>
            <a:ext cx="18902363" cy="966120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03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554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406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258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109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813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A818F4-F60F-441A-B396-B2B4F2CE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A17EF-651C-4211-8215-6CCC7E87AAEB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70922-F1D9-40C4-B650-3FDC6546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91750F-0D86-4994-9DCA-1B820E17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72F99-85AC-489B-A184-AF0415C3CF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05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238CC0-C6DF-4A87-95B0-6D4325466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3C8B2-E425-42E8-8457-902C9E79618A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45327-F691-457D-879A-57B40AD3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395BBC-E6DC-4391-8C17-C486E442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ACF6E-2F78-4187-AD83-23EF2515A66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054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33080" y="24293039"/>
            <a:ext cx="22952869" cy="7508438"/>
          </a:xfrm>
        </p:spPr>
        <p:txBody>
          <a:bodyPr anchor="t"/>
          <a:lstStyle>
            <a:lvl1pPr algn="l">
              <a:defRPr sz="162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133080" y="16023258"/>
            <a:ext cx="22952869" cy="8269781"/>
          </a:xfrm>
        </p:spPr>
        <p:txBody>
          <a:bodyPr anchor="b"/>
          <a:lstStyle>
            <a:lvl1pPr marL="0" indent="0">
              <a:buNone/>
              <a:defRPr sz="8100">
                <a:solidFill>
                  <a:schemeClr val="tx1">
                    <a:tint val="75000"/>
                  </a:schemeClr>
                </a:solidFill>
              </a:defRPr>
            </a:lvl1pPr>
            <a:lvl2pPr marL="1851660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2pPr>
            <a:lvl3pPr marL="370332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3pPr>
            <a:lvl4pPr marL="5554980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4pPr>
            <a:lvl5pPr marL="7406640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5pPr>
            <a:lvl6pPr marL="9258300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6pPr>
            <a:lvl7pPr marL="11109960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7pPr>
            <a:lvl8pPr marL="12961620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8pPr>
            <a:lvl9pPr marL="14813280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378C0-A010-4E38-9D66-D63DA25E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5DDDB-0169-4667-89E3-1EFAD78E7031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618DE-EBA4-4A28-B12A-4F226ED1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DE5D1-A04C-457E-9BDB-30B3A9BF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072EF-2A97-4D01-A5C6-4A85A99FB2C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28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989564" y="48629831"/>
            <a:ext cx="35657582" cy="137532189"/>
          </a:xfrm>
        </p:spPr>
        <p:txBody>
          <a:bodyPr/>
          <a:lstStyle>
            <a:lvl1pPr>
              <a:defRPr sz="11300"/>
            </a:lvl1pPr>
            <a:lvl2pPr>
              <a:defRPr sz="9700"/>
            </a:lvl2pPr>
            <a:lvl3pPr>
              <a:defRPr sz="81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0097201" y="48629831"/>
            <a:ext cx="35662268" cy="137532189"/>
          </a:xfrm>
        </p:spPr>
        <p:txBody>
          <a:bodyPr/>
          <a:lstStyle>
            <a:lvl1pPr>
              <a:defRPr sz="11300"/>
            </a:lvl1pPr>
            <a:lvl2pPr>
              <a:defRPr sz="9700"/>
            </a:lvl2pPr>
            <a:lvl3pPr>
              <a:defRPr sz="81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312C862-5025-4E66-988C-19C12911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B2C9-1C00-4B24-8576-4135216A7BED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152A529-73FC-43AB-8AD4-0B59638FA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63DEA73-B8C8-4956-A8FC-30B032BA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48D16-F315-49EC-940A-1E412161E08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03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50169" y="1513942"/>
            <a:ext cx="24303038" cy="6300788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0169" y="8462310"/>
            <a:ext cx="11931180" cy="3526688"/>
          </a:xfrm>
        </p:spPr>
        <p:txBody>
          <a:bodyPr anchor="b"/>
          <a:lstStyle>
            <a:lvl1pPr marL="0" indent="0">
              <a:buNone/>
              <a:defRPr sz="9700" b="1"/>
            </a:lvl1pPr>
            <a:lvl2pPr marL="1851660" indent="0">
              <a:buNone/>
              <a:defRPr sz="8100" b="1"/>
            </a:lvl2pPr>
            <a:lvl3pPr marL="3703320" indent="0">
              <a:buNone/>
              <a:defRPr sz="7300" b="1"/>
            </a:lvl3pPr>
            <a:lvl4pPr marL="5554980" indent="0">
              <a:buNone/>
              <a:defRPr sz="6500" b="1"/>
            </a:lvl4pPr>
            <a:lvl5pPr marL="7406640" indent="0">
              <a:buNone/>
              <a:defRPr sz="6500" b="1"/>
            </a:lvl5pPr>
            <a:lvl6pPr marL="9258300" indent="0">
              <a:buNone/>
              <a:defRPr sz="6500" b="1"/>
            </a:lvl6pPr>
            <a:lvl7pPr marL="11109960" indent="0">
              <a:buNone/>
              <a:defRPr sz="6500" b="1"/>
            </a:lvl7pPr>
            <a:lvl8pPr marL="12961620" indent="0">
              <a:buNone/>
              <a:defRPr sz="6500" b="1"/>
            </a:lvl8pPr>
            <a:lvl9pPr marL="14813280" indent="0">
              <a:buNone/>
              <a:defRPr sz="65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350169" y="11988998"/>
            <a:ext cx="11931180" cy="21781475"/>
          </a:xfrm>
        </p:spPr>
        <p:txBody>
          <a:bodyPr/>
          <a:lstStyle>
            <a:lvl1pPr>
              <a:defRPr sz="9700"/>
            </a:lvl1pPr>
            <a:lvl2pPr>
              <a:defRPr sz="8100"/>
            </a:lvl2pPr>
            <a:lvl3pPr>
              <a:defRPr sz="73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3717341" y="8462310"/>
            <a:ext cx="11935867" cy="3526688"/>
          </a:xfrm>
        </p:spPr>
        <p:txBody>
          <a:bodyPr anchor="b"/>
          <a:lstStyle>
            <a:lvl1pPr marL="0" indent="0">
              <a:buNone/>
              <a:defRPr sz="9700" b="1"/>
            </a:lvl1pPr>
            <a:lvl2pPr marL="1851660" indent="0">
              <a:buNone/>
              <a:defRPr sz="8100" b="1"/>
            </a:lvl2pPr>
            <a:lvl3pPr marL="3703320" indent="0">
              <a:buNone/>
              <a:defRPr sz="7300" b="1"/>
            </a:lvl3pPr>
            <a:lvl4pPr marL="5554980" indent="0">
              <a:buNone/>
              <a:defRPr sz="6500" b="1"/>
            </a:lvl4pPr>
            <a:lvl5pPr marL="7406640" indent="0">
              <a:buNone/>
              <a:defRPr sz="6500" b="1"/>
            </a:lvl5pPr>
            <a:lvl6pPr marL="9258300" indent="0">
              <a:buNone/>
              <a:defRPr sz="6500" b="1"/>
            </a:lvl6pPr>
            <a:lvl7pPr marL="11109960" indent="0">
              <a:buNone/>
              <a:defRPr sz="6500" b="1"/>
            </a:lvl7pPr>
            <a:lvl8pPr marL="12961620" indent="0">
              <a:buNone/>
              <a:defRPr sz="6500" b="1"/>
            </a:lvl8pPr>
            <a:lvl9pPr marL="14813280" indent="0">
              <a:buNone/>
              <a:defRPr sz="65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3717341" y="11988998"/>
            <a:ext cx="11935867" cy="21781475"/>
          </a:xfrm>
        </p:spPr>
        <p:txBody>
          <a:bodyPr/>
          <a:lstStyle>
            <a:lvl1pPr>
              <a:defRPr sz="9700"/>
            </a:lvl1pPr>
            <a:lvl2pPr>
              <a:defRPr sz="8100"/>
            </a:lvl2pPr>
            <a:lvl3pPr>
              <a:defRPr sz="73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5B2F5335-9491-4880-AB8A-1B4E37C6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A03A3-5C50-4299-9128-200B9E840D79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8B5BE60B-6053-40B7-9888-C7FAA33B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B1520B5-7BF6-4073-B26C-19027D9A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31B29-ADEE-4002-BAC5-8EDE2F77BF9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76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A3BEBD8B-5104-4BEE-BDF6-9CF3FE63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A1DF6-BE2E-4562-8A2E-BB0ECE62A4AD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51C7A67-9925-406B-9E75-D49D09AF8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0541CB33-4B67-400F-BB85-AA4F1C6A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373A6-58F3-4D7E-B362-56A4171BFE5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045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B266BE2-E9AE-4C01-BA78-C2D95934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368A7-CD20-4231-930E-626F6DAE2D22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9647E0EC-335F-470A-96A1-4AD5D6DC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78C743D-E451-4F35-8E5F-17546441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2A0C6-2E68-443B-9CAE-10FF96BFE7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1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50170" y="1505188"/>
            <a:ext cx="8883924" cy="6405801"/>
          </a:xfrm>
        </p:spPr>
        <p:txBody>
          <a:bodyPr anchor="b"/>
          <a:lstStyle>
            <a:lvl1pPr algn="l">
              <a:defRPr sz="81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557569" y="1505191"/>
            <a:ext cx="15095637" cy="32265285"/>
          </a:xfrm>
        </p:spPr>
        <p:txBody>
          <a:bodyPr/>
          <a:lstStyle>
            <a:lvl1pPr>
              <a:defRPr sz="13000"/>
            </a:lvl1pPr>
            <a:lvl2pPr>
              <a:defRPr sz="11300"/>
            </a:lvl2pPr>
            <a:lvl3pPr>
              <a:defRPr sz="9700"/>
            </a:lvl3pPr>
            <a:lvl4pPr>
              <a:defRPr sz="8100"/>
            </a:lvl4pPr>
            <a:lvl5pPr>
              <a:defRPr sz="8100"/>
            </a:lvl5pPr>
            <a:lvl6pPr>
              <a:defRPr sz="8100"/>
            </a:lvl6pPr>
            <a:lvl7pPr>
              <a:defRPr sz="8100"/>
            </a:lvl7pPr>
            <a:lvl8pPr>
              <a:defRPr sz="8100"/>
            </a:lvl8pPr>
            <a:lvl9pPr>
              <a:defRPr sz="8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50170" y="7910991"/>
            <a:ext cx="8883924" cy="25859485"/>
          </a:xfrm>
        </p:spPr>
        <p:txBody>
          <a:bodyPr/>
          <a:lstStyle>
            <a:lvl1pPr marL="0" indent="0">
              <a:buNone/>
              <a:defRPr sz="5700"/>
            </a:lvl1pPr>
            <a:lvl2pPr marL="1851660" indent="0">
              <a:buNone/>
              <a:defRPr sz="4900"/>
            </a:lvl2pPr>
            <a:lvl3pPr marL="3703320" indent="0">
              <a:buNone/>
              <a:defRPr sz="4100"/>
            </a:lvl3pPr>
            <a:lvl4pPr marL="5554980" indent="0">
              <a:buNone/>
              <a:defRPr sz="3600"/>
            </a:lvl4pPr>
            <a:lvl5pPr marL="7406640" indent="0">
              <a:buNone/>
              <a:defRPr sz="3600"/>
            </a:lvl5pPr>
            <a:lvl6pPr marL="9258300" indent="0">
              <a:buNone/>
              <a:defRPr sz="3600"/>
            </a:lvl6pPr>
            <a:lvl7pPr marL="11109960" indent="0">
              <a:buNone/>
              <a:defRPr sz="3600"/>
            </a:lvl7pPr>
            <a:lvl8pPr marL="12961620" indent="0">
              <a:buNone/>
              <a:defRPr sz="3600"/>
            </a:lvl8pPr>
            <a:lvl9pPr marL="14813280" indent="0">
              <a:buNone/>
              <a:defRPr sz="3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8844F8F-BCF6-48DE-ABEE-EB4A2166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17BFD-8C32-4D65-8D38-A1CF65FE6714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027DAD5-CA13-4DBF-BF88-BABE37F7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7CAF61D-DCA1-4A56-B472-63E9F566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6EDD5-ED50-495E-A27B-6F768DC099A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8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92851" y="26463308"/>
            <a:ext cx="16202025" cy="3124143"/>
          </a:xfrm>
        </p:spPr>
        <p:txBody>
          <a:bodyPr anchor="b"/>
          <a:lstStyle>
            <a:lvl1pPr algn="l">
              <a:defRPr sz="81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292851" y="3377922"/>
            <a:ext cx="16202025" cy="22682835"/>
          </a:xfrm>
        </p:spPr>
        <p:txBody>
          <a:bodyPr rtlCol="0">
            <a:normAutofit/>
          </a:bodyPr>
          <a:lstStyle>
            <a:lvl1pPr marL="0" indent="0">
              <a:buNone/>
              <a:defRPr sz="13000"/>
            </a:lvl1pPr>
            <a:lvl2pPr marL="1851660" indent="0">
              <a:buNone/>
              <a:defRPr sz="11300"/>
            </a:lvl2pPr>
            <a:lvl3pPr marL="3703320" indent="0">
              <a:buNone/>
              <a:defRPr sz="9700"/>
            </a:lvl3pPr>
            <a:lvl4pPr marL="5554980" indent="0">
              <a:buNone/>
              <a:defRPr sz="8100"/>
            </a:lvl4pPr>
            <a:lvl5pPr marL="7406640" indent="0">
              <a:buNone/>
              <a:defRPr sz="8100"/>
            </a:lvl5pPr>
            <a:lvl6pPr marL="9258300" indent="0">
              <a:buNone/>
              <a:defRPr sz="8100"/>
            </a:lvl6pPr>
            <a:lvl7pPr marL="11109960" indent="0">
              <a:buNone/>
              <a:defRPr sz="8100"/>
            </a:lvl7pPr>
            <a:lvl8pPr marL="12961620" indent="0">
              <a:buNone/>
              <a:defRPr sz="8100"/>
            </a:lvl8pPr>
            <a:lvl9pPr marL="14813280" indent="0">
              <a:buNone/>
              <a:defRPr sz="81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292851" y="29587451"/>
            <a:ext cx="16202025" cy="4436802"/>
          </a:xfrm>
        </p:spPr>
        <p:txBody>
          <a:bodyPr/>
          <a:lstStyle>
            <a:lvl1pPr marL="0" indent="0">
              <a:buNone/>
              <a:defRPr sz="5700"/>
            </a:lvl1pPr>
            <a:lvl2pPr marL="1851660" indent="0">
              <a:buNone/>
              <a:defRPr sz="4900"/>
            </a:lvl2pPr>
            <a:lvl3pPr marL="3703320" indent="0">
              <a:buNone/>
              <a:defRPr sz="4100"/>
            </a:lvl3pPr>
            <a:lvl4pPr marL="5554980" indent="0">
              <a:buNone/>
              <a:defRPr sz="3600"/>
            </a:lvl4pPr>
            <a:lvl5pPr marL="7406640" indent="0">
              <a:buNone/>
              <a:defRPr sz="3600"/>
            </a:lvl5pPr>
            <a:lvl6pPr marL="9258300" indent="0">
              <a:buNone/>
              <a:defRPr sz="3600"/>
            </a:lvl6pPr>
            <a:lvl7pPr marL="11109960" indent="0">
              <a:buNone/>
              <a:defRPr sz="3600"/>
            </a:lvl7pPr>
            <a:lvl8pPr marL="12961620" indent="0">
              <a:buNone/>
              <a:defRPr sz="3600"/>
            </a:lvl8pPr>
            <a:lvl9pPr marL="14813280" indent="0">
              <a:buNone/>
              <a:defRPr sz="3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81B4E10-142E-41E3-8A89-19BB86E6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05EA8-B386-440D-8CA4-35201BBF3E49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8B8EED8-DA3E-496B-88AA-613174EA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0A68BF7-17E7-4CB7-B4A9-858E884C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2ED2A-E5A8-4589-8F88-60B8366460A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46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B48792-9DD0-4AC8-878C-44975389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182F9-B57B-4DF7-A691-D7EB1A69EEBA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93F28E-612E-47A3-A6BE-A915FE2E1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ADDF3C-FA96-4493-ACC8-C3A43401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2BFD2-2460-4B17-B2EE-D2B7168C472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407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57818166" y="8348546"/>
            <a:ext cx="17941303" cy="1778134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989564" y="8348546"/>
            <a:ext cx="53378546" cy="1778134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09610D-918D-47B3-AA0E-097BB2AA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A7AB1-0A5B-4EAA-BB5D-E6B6E7670485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9C0FC5-4F25-4268-8488-5843778C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F32028-D53A-4EE5-8A5C-B0C8140D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73AF2-16FA-44D6-9A32-2508F0E4330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57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6D3D54B0-6ABA-4232-AEC7-2ECBEFD4EA6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350963" y="1514475"/>
            <a:ext cx="24303037" cy="630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0332" tIns="185166" rIns="370332" bIns="18516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3EBB213-8509-45B5-8FA3-BF4BF83BF2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350963" y="8821738"/>
            <a:ext cx="24303037" cy="2494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0332" tIns="185166" rIns="370332" bIns="1851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1A8788-E03B-467E-AE7E-209A20F57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50963" y="35039300"/>
            <a:ext cx="6300787" cy="2012950"/>
          </a:xfrm>
          <a:prstGeom prst="rect">
            <a:avLst/>
          </a:prstGeom>
        </p:spPr>
        <p:txBody>
          <a:bodyPr vert="horz" lIns="370332" tIns="185166" rIns="370332" bIns="185166" rtlCol="0" anchor="ctr"/>
          <a:lstStyle>
            <a:lvl1pPr algn="l" defTabSz="3703320" eaLnBrk="1" fontAlgn="auto" latinLnBrk="1" hangingPunct="1">
              <a:spcBef>
                <a:spcPts val="0"/>
              </a:spcBef>
              <a:spcAft>
                <a:spcPts val="0"/>
              </a:spcAft>
              <a:defRPr kumimoji="0" sz="4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5FC36D4-B0D3-4631-9787-8A37E4A30869}" type="datetimeFigureOut">
              <a:rPr lang="ko-KR" altLang="en-US"/>
              <a:pPr>
                <a:defRPr/>
              </a:pPr>
              <a:t>2025. 10. 12.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3BF1C-F737-4972-B5A1-B64537EFA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26550" y="35039300"/>
            <a:ext cx="8550275" cy="2012950"/>
          </a:xfrm>
          <a:prstGeom prst="rect">
            <a:avLst/>
          </a:prstGeom>
        </p:spPr>
        <p:txBody>
          <a:bodyPr vert="horz" lIns="370332" tIns="185166" rIns="370332" bIns="185166" rtlCol="0" anchor="ctr"/>
          <a:lstStyle>
            <a:lvl1pPr algn="ctr" defTabSz="3703320" eaLnBrk="1" fontAlgn="auto" latinLnBrk="1" hangingPunct="1">
              <a:spcBef>
                <a:spcPts val="0"/>
              </a:spcBef>
              <a:spcAft>
                <a:spcPts val="0"/>
              </a:spcAft>
              <a:defRPr kumimoji="0" sz="4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3D1717-31DE-431E-A264-D3C403D74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353213" y="35039300"/>
            <a:ext cx="6300787" cy="2012950"/>
          </a:xfrm>
          <a:prstGeom prst="rect">
            <a:avLst/>
          </a:prstGeom>
        </p:spPr>
        <p:txBody>
          <a:bodyPr vert="horz" wrap="square" lIns="370332" tIns="185166" rIns="370332" bIns="185166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4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1339DD9-E895-499F-8F4F-A9144EA09A1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02050" rtl="0" eaLnBrk="0" fontAlgn="base" latinLnBrk="1" hangingPunct="0">
        <a:spcBef>
          <a:spcPct val="0"/>
        </a:spcBef>
        <a:spcAft>
          <a:spcPct val="0"/>
        </a:spcAft>
        <a:defRPr sz="17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3702050" rtl="0" eaLnBrk="0" fontAlgn="base" latinLnBrk="1" hangingPunct="0">
        <a:spcBef>
          <a:spcPct val="0"/>
        </a:spcBef>
        <a:spcAft>
          <a:spcPct val="0"/>
        </a:spcAft>
        <a:defRPr sz="178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3702050" rtl="0" eaLnBrk="0" fontAlgn="base" latinLnBrk="1" hangingPunct="0">
        <a:spcBef>
          <a:spcPct val="0"/>
        </a:spcBef>
        <a:spcAft>
          <a:spcPct val="0"/>
        </a:spcAft>
        <a:defRPr sz="178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3702050" rtl="0" eaLnBrk="0" fontAlgn="base" latinLnBrk="1" hangingPunct="0">
        <a:spcBef>
          <a:spcPct val="0"/>
        </a:spcBef>
        <a:spcAft>
          <a:spcPct val="0"/>
        </a:spcAft>
        <a:defRPr sz="178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3702050" rtl="0" eaLnBrk="0" fontAlgn="base" latinLnBrk="1" hangingPunct="0">
        <a:spcBef>
          <a:spcPct val="0"/>
        </a:spcBef>
        <a:spcAft>
          <a:spcPct val="0"/>
        </a:spcAft>
        <a:defRPr sz="178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defTabSz="3702050" rtl="0" fontAlgn="base" latinLnBrk="1">
        <a:spcBef>
          <a:spcPct val="0"/>
        </a:spcBef>
        <a:spcAft>
          <a:spcPct val="0"/>
        </a:spcAft>
        <a:defRPr sz="178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defTabSz="3702050" rtl="0" fontAlgn="base" latinLnBrk="1">
        <a:spcBef>
          <a:spcPct val="0"/>
        </a:spcBef>
        <a:spcAft>
          <a:spcPct val="0"/>
        </a:spcAft>
        <a:defRPr sz="178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defTabSz="3702050" rtl="0" fontAlgn="base" latinLnBrk="1">
        <a:spcBef>
          <a:spcPct val="0"/>
        </a:spcBef>
        <a:spcAft>
          <a:spcPct val="0"/>
        </a:spcAft>
        <a:defRPr sz="178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defTabSz="3702050" rtl="0" fontAlgn="base" latinLnBrk="1">
        <a:spcBef>
          <a:spcPct val="0"/>
        </a:spcBef>
        <a:spcAft>
          <a:spcPct val="0"/>
        </a:spcAft>
        <a:defRPr sz="178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1387475" indent="-1387475" algn="l" defTabSz="37020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3000" kern="1200">
          <a:solidFill>
            <a:schemeClr val="tx1"/>
          </a:solidFill>
          <a:latin typeface="+mn-lt"/>
          <a:ea typeface="+mn-ea"/>
          <a:cs typeface="+mn-cs"/>
        </a:defRPr>
      </a:lvl1pPr>
      <a:lvl2pPr marL="3008313" indent="-1157288" algn="l" defTabSz="37020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1300" kern="1200">
          <a:solidFill>
            <a:schemeClr val="tx1"/>
          </a:solidFill>
          <a:latin typeface="+mn-lt"/>
          <a:ea typeface="+mn-ea"/>
          <a:cs typeface="+mn-cs"/>
        </a:defRPr>
      </a:lvl2pPr>
      <a:lvl3pPr marL="4629150" indent="-925513" algn="l" defTabSz="37020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175" indent="-925513" algn="l" defTabSz="37020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8100" kern="1200">
          <a:solidFill>
            <a:schemeClr val="tx1"/>
          </a:solidFill>
          <a:latin typeface="+mn-lt"/>
          <a:ea typeface="+mn-ea"/>
          <a:cs typeface="+mn-cs"/>
        </a:defRPr>
      </a:lvl4pPr>
      <a:lvl5pPr marL="8331200" indent="-925513" algn="l" defTabSz="37020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8100" kern="1200">
          <a:solidFill>
            <a:schemeClr val="tx1"/>
          </a:solidFill>
          <a:latin typeface="+mn-lt"/>
          <a:ea typeface="+mn-ea"/>
          <a:cs typeface="+mn-cs"/>
        </a:defRPr>
      </a:lvl5pPr>
      <a:lvl6pPr marL="10184130" indent="-925830" algn="l" defTabSz="3703320" rtl="0" eaLnBrk="1" latinLnBrk="1" hangingPunct="1">
        <a:spcBef>
          <a:spcPct val="20000"/>
        </a:spcBef>
        <a:buFont typeface="Arial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6pPr>
      <a:lvl7pPr marL="12035790" indent="-925830" algn="l" defTabSz="3703320" rtl="0" eaLnBrk="1" latinLnBrk="1" hangingPunct="1">
        <a:spcBef>
          <a:spcPct val="20000"/>
        </a:spcBef>
        <a:buFont typeface="Arial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7pPr>
      <a:lvl8pPr marL="13887450" indent="-925830" algn="l" defTabSz="3703320" rtl="0" eaLnBrk="1" latinLnBrk="1" hangingPunct="1">
        <a:spcBef>
          <a:spcPct val="20000"/>
        </a:spcBef>
        <a:buFont typeface="Arial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8pPr>
      <a:lvl9pPr marL="15739110" indent="-925830" algn="l" defTabSz="3703320" rtl="0" eaLnBrk="1" latinLnBrk="1" hangingPunct="1">
        <a:spcBef>
          <a:spcPct val="20000"/>
        </a:spcBef>
        <a:buFont typeface="Arial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1pPr>
      <a:lvl2pPr marL="185166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2pPr>
      <a:lvl3pPr marL="370332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3pPr>
      <a:lvl4pPr marL="555498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5pPr>
      <a:lvl6pPr marL="925830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6pPr>
      <a:lvl7pPr marL="1110996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7pPr>
      <a:lvl8pPr marL="1296162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8pPr>
      <a:lvl9pPr marL="14813280" algn="l" defTabSz="3703320" rtl="0" eaLnBrk="1" latinLnBrk="1" hangingPunct="1">
        <a:defRPr sz="7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1">
            <a:extLst>
              <a:ext uri="{FF2B5EF4-FFF2-40B4-BE49-F238E27FC236}">
                <a16:creationId xmlns:a16="http://schemas.microsoft.com/office/drawing/2014/main" id="{781106BB-B1F3-46F1-8EC5-82350B5CD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625475"/>
            <a:ext cx="25834975" cy="6564313"/>
          </a:xfrm>
          <a:prstGeom prst="rect">
            <a:avLst/>
          </a:prstGeom>
          <a:noFill/>
          <a:ln w="127000">
            <a:solidFill>
              <a:srgbClr val="003BB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32054" tIns="216027" rIns="432054" bIns="216027" anchor="ctr" anchorCtr="1"/>
          <a:lstStyle>
            <a:lvl1pPr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321175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Clr>
                <a:srgbClr val="FFFF99"/>
              </a:buClr>
              <a:buFontTx/>
              <a:buNone/>
            </a:pPr>
            <a:br>
              <a:rPr kumimoji="0" lang="ko-KR" altLang="en-US" sz="900" b="1" baseline="30000">
                <a:solidFill>
                  <a:schemeClr val="tx2"/>
                </a:solidFill>
                <a:latin typeface="Times New Roman" panose="02020603050405020304" pitchFamily="18" charset="0"/>
                <a:ea typeface="돋움체" panose="020B0609000101010101" pitchFamily="49" charset="-127"/>
                <a:cs typeface="Times New Roman" panose="02020603050405020304" pitchFamily="18" charset="0"/>
              </a:rPr>
            </a:br>
            <a:endParaRPr kumimoji="0" lang="ko-KR" altLang="en-US" sz="900" b="1">
              <a:solidFill>
                <a:schemeClr val="tx2"/>
              </a:solidFill>
              <a:latin typeface="Times New Roman" panose="02020603050405020304" pitchFamily="18" charset="0"/>
              <a:ea typeface="돋움체" panose="020B060900010101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4099" name="Rectangle 4">
            <a:extLst>
              <a:ext uri="{FF2B5EF4-FFF2-40B4-BE49-F238E27FC236}">
                <a16:creationId xmlns:a16="http://schemas.microsoft.com/office/drawing/2014/main" id="{27E7FD71-61E5-403E-B1F3-C069521D2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625474"/>
            <a:ext cx="25834975" cy="3135313"/>
          </a:xfrm>
          <a:solidFill>
            <a:srgbClr val="003BB0"/>
          </a:solidFill>
        </p:spPr>
        <p:txBody>
          <a:bodyPr/>
          <a:lstStyle/>
          <a:p>
            <a:pPr latinLnBrk="0"/>
            <a:r>
              <a:rPr lang="en-US" altLang="ko-Kore-KR" sz="6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of a System Using Large Language Models to Convert Patient Allergy Test Results into HL7 FHIR </a:t>
            </a:r>
            <a:r>
              <a:rPr lang="en-US" altLang="ko-Kore-KR" sz="6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AllergyIntolerance</a:t>
            </a:r>
            <a:r>
              <a:rPr lang="en-US" altLang="ko-Kore-KR" sz="6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International Patient Summaries</a:t>
            </a:r>
            <a:endParaRPr lang="ko-Kore-KR" altLang="ko-Kore-KR" sz="60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00" name="Subtitle 2">
            <a:extLst>
              <a:ext uri="{FF2B5EF4-FFF2-40B4-BE49-F238E27FC236}">
                <a16:creationId xmlns:a16="http://schemas.microsoft.com/office/drawing/2014/main" id="{352D0F3D-679B-4FFB-931A-85C312986500}"/>
              </a:ext>
            </a:extLst>
          </p:cNvPr>
          <p:cNvSpPr txBox="1">
            <a:spLocks/>
          </p:cNvSpPr>
          <p:nvPr/>
        </p:nvSpPr>
        <p:spPr bwMode="auto">
          <a:xfrm>
            <a:off x="1567835" y="3712942"/>
            <a:ext cx="23463794" cy="426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32054" tIns="216027" rIns="432054" bIns="216027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37020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37020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37020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37020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latinLnBrk="0"/>
            <a:r>
              <a:rPr lang="en-US" altLang="ko-Kore-KR" sz="4000" dirty="0"/>
              <a:t>Min-Gyu Kang</a:t>
            </a:r>
            <a:r>
              <a:rPr lang="en-US" altLang="ko-Kore-KR" sz="4000" baseline="30000" dirty="0"/>
              <a:t>1,2,</a:t>
            </a:r>
            <a:r>
              <a:rPr lang="en-US" altLang="ko-Kore-KR" sz="4000" dirty="0"/>
              <a:t>, </a:t>
            </a:r>
            <a:r>
              <a:rPr lang="en-US" altLang="ko-Kore-KR" sz="4000" dirty="0" err="1"/>
              <a:t>Hyesin</a:t>
            </a:r>
            <a:r>
              <a:rPr lang="en-US" altLang="ko-Kore-KR" sz="4000" dirty="0"/>
              <a:t> Jung</a:t>
            </a:r>
            <a:r>
              <a:rPr lang="en-US" altLang="ko-Kore-KR" sz="4000" baseline="30000" dirty="0"/>
              <a:t>1</a:t>
            </a:r>
            <a:r>
              <a:rPr lang="en-US" altLang="ko-Kore-KR" sz="4000" dirty="0"/>
              <a:t>, Kyu</a:t>
            </a:r>
            <a:r>
              <a:rPr lang="en-US" altLang="ko-Kore-KR" sz="4000" baseline="30000" dirty="0"/>
              <a:t>1</a:t>
            </a:r>
            <a:r>
              <a:rPr lang="en-US" altLang="ko-Kore-KR" sz="4000" dirty="0"/>
              <a:t>nglim Lee</a:t>
            </a:r>
            <a:r>
              <a:rPr lang="en-US" altLang="ko-Kore-KR" sz="4000" baseline="30000" dirty="0"/>
              <a:t>1</a:t>
            </a:r>
            <a:r>
              <a:rPr lang="en-US" altLang="ko-Kore-KR" sz="4000" dirty="0"/>
              <a:t>, </a:t>
            </a:r>
            <a:r>
              <a:rPr lang="en-US" altLang="ko-Kore-KR" sz="4000" dirty="0" err="1"/>
              <a:t>Hyungki</a:t>
            </a:r>
            <a:r>
              <a:rPr lang="en-US" altLang="ko-Kore-KR" sz="4000" dirty="0"/>
              <a:t> Kim</a:t>
            </a:r>
            <a:r>
              <a:rPr lang="en-US" altLang="ko-Kore-KR" sz="4000" baseline="30000" dirty="0"/>
              <a:t>1</a:t>
            </a:r>
            <a:r>
              <a:rPr lang="en-US" altLang="ko-Kore-KR" sz="4000" dirty="0"/>
              <a:t>, </a:t>
            </a:r>
            <a:r>
              <a:rPr lang="en-US" altLang="ko-Kore-KR" sz="4000" dirty="0" err="1"/>
              <a:t>Kicheol</a:t>
            </a:r>
            <a:r>
              <a:rPr lang="en-US" altLang="ko-Kore-KR" sz="4000" dirty="0"/>
              <a:t> Yu</a:t>
            </a:r>
            <a:r>
              <a:rPr lang="en-US" altLang="ko-Kore-KR" sz="4000" baseline="30000" dirty="0"/>
              <a:t>1</a:t>
            </a:r>
            <a:r>
              <a:rPr lang="en-US" altLang="ko-Kore-KR" sz="4000" dirty="0"/>
              <a:t>, HK Won</a:t>
            </a:r>
            <a:r>
              <a:rPr lang="en-US" altLang="ko-Kore-KR" sz="4000" baseline="30000" dirty="0"/>
              <a:t>, </a:t>
            </a:r>
            <a:r>
              <a:rPr lang="en-US" altLang="ko-Kore-KR" sz="4000" dirty="0"/>
              <a:t>YJ, Bae</a:t>
            </a:r>
            <a:r>
              <a:rPr lang="en-US" altLang="ko-Kore-KR" sz="4000" baseline="30000" dirty="0"/>
              <a:t>1, </a:t>
            </a:r>
            <a:r>
              <a:rPr lang="en-US" altLang="ko-Kore-KR" sz="4000" dirty="0"/>
              <a:t>Sung-Il Woo</a:t>
            </a:r>
            <a:r>
              <a:rPr lang="en-US" altLang="ko-Kore-KR" sz="4000" baseline="30000" dirty="0"/>
              <a:t>1 </a:t>
            </a:r>
            <a:r>
              <a:rPr lang="en-US" altLang="ko-Kore-KR" sz="4000" dirty="0"/>
              <a:t>and </a:t>
            </a:r>
            <a:r>
              <a:rPr lang="en-US" altLang="ko-Kore-KR" sz="4000" baseline="30000" dirty="0"/>
              <a:t>3</a:t>
            </a:r>
            <a:r>
              <a:rPr lang="en-US" altLang="ko-Kore-KR" sz="4000" dirty="0"/>
              <a:t>Sang-Heon Kim</a:t>
            </a:r>
            <a:endParaRPr lang="ko-Kore-KR" altLang="ko-Kore-KR" sz="4000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CE6999A-2F11-40ED-8CB7-A77418EEC99D}"/>
              </a:ext>
            </a:extLst>
          </p:cNvPr>
          <p:cNvSpPr>
            <a:spLocks noGrp="1"/>
          </p:cNvSpPr>
          <p:nvPr/>
        </p:nvSpPr>
        <p:spPr>
          <a:xfrm>
            <a:off x="642938" y="21997988"/>
            <a:ext cx="12201525" cy="1073943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just" fontAlgn="auto" latinLnBrk="0">
              <a:lnSpc>
                <a:spcPct val="110000"/>
              </a:lnSpc>
              <a:spcAft>
                <a:spcPts val="0"/>
              </a:spcAft>
              <a:defRPr/>
            </a:pPr>
            <a:endParaRPr kumimoji="0" lang="en-US" altLang="ko-KR" sz="1400" dirty="0">
              <a:latin typeface="맑은 고딕" pitchFamily="50" charset="-127"/>
            </a:endParaRPr>
          </a:p>
          <a:p>
            <a:pPr marL="360000" algn="just" fontAlgn="auto" latinLnBrk="0">
              <a:lnSpc>
                <a:spcPct val="110000"/>
              </a:lnSpc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HY중고딕" pitchFamily="18" charset="-127"/>
            </a:endParaRPr>
          </a:p>
        </p:txBody>
      </p:sp>
      <p:sp>
        <p:nvSpPr>
          <p:cNvPr id="4103" name="내용 개체 틀 2">
            <a:extLst>
              <a:ext uri="{FF2B5EF4-FFF2-40B4-BE49-F238E27FC236}">
                <a16:creationId xmlns:a16="http://schemas.microsoft.com/office/drawing/2014/main" id="{AA13FB7D-3085-4013-AFF3-610F3B1CD809}"/>
              </a:ext>
            </a:extLst>
          </p:cNvPr>
          <p:cNvSpPr>
            <a:spLocks noGrp="1"/>
          </p:cNvSpPr>
          <p:nvPr/>
        </p:nvSpPr>
        <p:spPr bwMode="auto">
          <a:xfrm>
            <a:off x="13854113" y="7634288"/>
            <a:ext cx="12385675" cy="702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37020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37020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37020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37020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ko-KR" altLang="ko-KR" sz="3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6000" b="1" u="sng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6" name="내용 개체 틀 2">
            <a:extLst>
              <a:ext uri="{FF2B5EF4-FFF2-40B4-BE49-F238E27FC236}">
                <a16:creationId xmlns:a16="http://schemas.microsoft.com/office/drawing/2014/main" id="{DAFEA607-A352-4913-95FA-F07C30CB4534}"/>
              </a:ext>
            </a:extLst>
          </p:cNvPr>
          <p:cNvSpPr>
            <a:spLocks noGrp="1"/>
          </p:cNvSpPr>
          <p:nvPr/>
        </p:nvSpPr>
        <p:spPr bwMode="auto">
          <a:xfrm>
            <a:off x="1131888" y="7835460"/>
            <a:ext cx="12509436" cy="790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321175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4400" b="1" u="sng" dirty="0">
                <a:solidFill>
                  <a:srgbClr val="003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US" altLang="ko-KR" sz="40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105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latinLnBrk="0" hangingPunct="1">
              <a:spcBef>
                <a:spcPct val="0"/>
              </a:spcBef>
              <a:buFontTx/>
              <a:buNone/>
            </a:pPr>
            <a:endParaRPr lang="en-US" altLang="ko-KR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" altLang="ko-Kore-KR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Patients with allergies commonly undergo various diagnostic tests, such as </a:t>
            </a:r>
            <a:r>
              <a:rPr lang="en" altLang="ko-Kore-KR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skin prick tests (SPT)</a:t>
            </a:r>
            <a:r>
              <a:rPr lang="en" altLang="ko-Kore-KR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and </a:t>
            </a:r>
            <a:r>
              <a:rPr lang="en" altLang="ko-Kore-KR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Multiple Allergen Simultaneous Tests (MAST)</a:t>
            </a:r>
            <a:r>
              <a:rPr lang="en" altLang="ko-Kore-KR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Despite the clinical importance of these tests, it remains challenging for patients to accurately maintain, interpret, and utilize their personal allergy information. The </a:t>
            </a:r>
            <a:r>
              <a:rPr lang="en" altLang="ko-Kore-KR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HL7 FHIR (Fast Healthcare Interoperability Resources)</a:t>
            </a:r>
            <a:r>
              <a:rPr lang="en" altLang="ko-Kore-KR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standard has been widely adopted internationally to enable structured healthcare data exchange. However, user-friendly tools that allow patients or clinicians to directly convert allergy test results into standardized, FHIR-compatible formats are still lacking.</a:t>
            </a:r>
            <a:endParaRPr lang="en" altLang="ko-Kore-KR" sz="13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07" name="내용 개체 틀 2">
            <a:extLst>
              <a:ext uri="{FF2B5EF4-FFF2-40B4-BE49-F238E27FC236}">
                <a16:creationId xmlns:a16="http://schemas.microsoft.com/office/drawing/2014/main" id="{1AF3DC31-CD3B-4915-8223-E0402F95273A}"/>
              </a:ext>
            </a:extLst>
          </p:cNvPr>
          <p:cNvSpPr>
            <a:spLocks noGrp="1"/>
          </p:cNvSpPr>
          <p:nvPr/>
        </p:nvSpPr>
        <p:spPr bwMode="auto">
          <a:xfrm>
            <a:off x="1131888" y="13803225"/>
            <a:ext cx="1237773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321175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4400" b="1" u="sng" dirty="0">
                <a:solidFill>
                  <a:srgbClr val="003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3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5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5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 gap, this study aimed to develop an </a:t>
            </a:r>
            <a:r>
              <a:rPr lang="en" altLang="ko-Kore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LLM-assisted allergy data processing system</a:t>
            </a: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</a:t>
            </a:r>
            <a:r>
              <a:rPr lang="en" altLang="ko-Kore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a patient-friendly </a:t>
            </a:r>
            <a:r>
              <a:rPr lang="en" altLang="ko-Kore-K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" altLang="ko-Kore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platform supports both </a:t>
            </a:r>
            <a:r>
              <a:rPr lang="en" altLang="ko-Kore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 and SPT test results</a:t>
            </a: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automatically transforming unstructured outputs into </a:t>
            </a:r>
            <a:r>
              <a:rPr lang="en" altLang="ko-Kore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FHIR Observation resources</a:t>
            </a: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Subsequently, through an integrated </a:t>
            </a:r>
            <a:r>
              <a:rPr lang="en" altLang="ko-Kore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verification survey</a:t>
            </a: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identifies clinically relevant allergens and converts only those into </a:t>
            </a:r>
            <a:r>
              <a:rPr lang="en" altLang="ko-Kore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HL7 FHIR </a:t>
            </a:r>
            <a:r>
              <a:rPr lang="en" altLang="ko-Kore-K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AllergyIntolerance</a:t>
            </a: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resources aligned with the </a:t>
            </a:r>
            <a:r>
              <a:rPr lang="en" altLang="ko-Kore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Patient Summary (IPS)</a:t>
            </a: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standard.</a:t>
            </a:r>
          </a:p>
          <a:p>
            <a:pPr algn="just">
              <a:buNone/>
            </a:pPr>
            <a:r>
              <a:rPr lang="en" altLang="ko-Kore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bridges the gap between raw laboratory data and standardized clinical knowledge, promoting patient-centered interoperability in allergy care.</a:t>
            </a:r>
            <a:endParaRPr lang="en" altLang="ko-Kore-K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9" name="내용 개체 틀 2">
            <a:extLst>
              <a:ext uri="{FF2B5EF4-FFF2-40B4-BE49-F238E27FC236}">
                <a16:creationId xmlns:a16="http://schemas.microsoft.com/office/drawing/2014/main" id="{7CA1AEFA-10DC-4A6B-B2CD-22257E136D8C}"/>
              </a:ext>
            </a:extLst>
          </p:cNvPr>
          <p:cNvSpPr>
            <a:spLocks noGrp="1"/>
          </p:cNvSpPr>
          <p:nvPr/>
        </p:nvSpPr>
        <p:spPr bwMode="auto">
          <a:xfrm>
            <a:off x="1148662" y="20224663"/>
            <a:ext cx="12049125" cy="627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321175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kumimoji="0" lang="en-US" altLang="ko-KR" sz="4400" b="1" u="sng" dirty="0">
                <a:solidFill>
                  <a:srgbClr val="003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Overview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kumimoji="0" lang="en-US" altLang="ko-KR" sz="4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eaLnBrk="1" hangingPunct="1">
              <a:spcBef>
                <a:spcPct val="0"/>
              </a:spcBef>
              <a:buFontTx/>
              <a:buChar char="-"/>
              <a:defRPr/>
            </a:pPr>
            <a:endParaRPr lang="en-US" altLang="ko-K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12" name="직사각형 4">
            <a:extLst>
              <a:ext uri="{FF2B5EF4-FFF2-40B4-BE49-F238E27FC236}">
                <a16:creationId xmlns:a16="http://schemas.microsoft.com/office/drawing/2014/main" id="{3DFCBBEC-531D-4D75-937A-AFAC9EC59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0209" y="5348162"/>
            <a:ext cx="2248165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latinLnBrk="0"/>
            <a:r>
              <a:rPr lang="en-US" altLang="ko-Kore-KR" sz="3200" i="1" baseline="30000" dirty="0"/>
              <a:t>1</a:t>
            </a:r>
            <a:r>
              <a:rPr lang="en-US" altLang="ko-Kore-KR" sz="3200" i="1" dirty="0"/>
              <a:t>Chungbuk National University Hospital, Cheongju, Republic of Korea </a:t>
            </a:r>
            <a:endParaRPr lang="ko-Kore-KR" altLang="ko-Kore-KR" sz="3200" dirty="0"/>
          </a:p>
          <a:p>
            <a:pPr algn="ctr" latinLnBrk="0"/>
            <a:r>
              <a:rPr lang="en-US" altLang="ko-Kore-KR" sz="3200" baseline="30000" dirty="0"/>
              <a:t>2</a:t>
            </a:r>
            <a:r>
              <a:rPr lang="en-US" altLang="ko-Kore-KR" sz="3200" i="1" dirty="0"/>
              <a:t>Chungbuk National University, </a:t>
            </a:r>
            <a:r>
              <a:rPr lang="en-US" altLang="ko-Kore-KR" sz="3200" i="1" dirty="0" err="1"/>
              <a:t>Gaesin</a:t>
            </a:r>
            <a:r>
              <a:rPr lang="en-US" altLang="ko-Kore-KR" sz="3200" i="1" dirty="0"/>
              <a:t> Campus, Cheongju, Republic of Korea;</a:t>
            </a:r>
          </a:p>
          <a:p>
            <a:pPr algn="ctr" latinLnBrk="0"/>
            <a:r>
              <a:rPr lang="en-US" altLang="ko-Kore-KR" sz="3200" i="1" baseline="30000" dirty="0"/>
              <a:t>3</a:t>
            </a:r>
            <a:r>
              <a:rPr lang="en-US" altLang="ko-Kore-KR" sz="3200" i="1" dirty="0"/>
              <a:t>Hanyang University and Hanyang University Hospital, Seoul, </a:t>
            </a:r>
            <a:r>
              <a:rPr lang="en-US" altLang="ko-Kore-KR" sz="3200" i="1" dirty="0" err="1"/>
              <a:t>Repiblic</a:t>
            </a:r>
            <a:r>
              <a:rPr lang="en-US" altLang="ko-Kore-KR" sz="3200" i="1" dirty="0"/>
              <a:t> of Korea; </a:t>
            </a:r>
            <a:endParaRPr lang="ko-Kore-KR" altLang="ko-Kore-KR" sz="32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94E348B-F40E-FC4F-A07E-3DA6A04A290F}"/>
              </a:ext>
            </a:extLst>
          </p:cNvPr>
          <p:cNvGrpSpPr/>
          <p:nvPr/>
        </p:nvGrpSpPr>
        <p:grpSpPr>
          <a:xfrm>
            <a:off x="1381913" y="21328763"/>
            <a:ext cx="12457097" cy="6884327"/>
            <a:chOff x="1359008" y="19530798"/>
            <a:chExt cx="12457097" cy="68843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E7C9935-ED18-FC57-45A3-2D35177C9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6707"/>
            <a:stretch>
              <a:fillRect/>
            </a:stretch>
          </p:blipFill>
          <p:spPr>
            <a:xfrm>
              <a:off x="1359008" y="19530798"/>
              <a:ext cx="9885295" cy="323745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4852696-26FE-CE52-F08C-584388E9E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21868" y="19888674"/>
              <a:ext cx="2494237" cy="273703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4CFAE28-2EC5-18AA-032A-29B19750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08247" y="23159311"/>
              <a:ext cx="1793621" cy="279234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76BC7A3-9A2B-D880-0264-085C73697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83498" y="22991291"/>
              <a:ext cx="7472201" cy="324878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C58A005-C334-405D-5BB2-6704FD6A6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29821" y="23640911"/>
              <a:ext cx="824345" cy="59429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9CD0057-315A-49A1-5605-0B1E1F207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00857" y="23627367"/>
              <a:ext cx="824345" cy="59429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18A4F8E-64E8-8938-C1FF-EE61BA75F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30602" y="25189734"/>
              <a:ext cx="2377991" cy="63413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A004078-541B-6E0B-A130-B1456BDA8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78612" y="25757330"/>
              <a:ext cx="2529981" cy="657795"/>
            </a:xfrm>
            <a:prstGeom prst="rect">
              <a:avLst/>
            </a:prstGeom>
          </p:spPr>
        </p:pic>
      </p:grp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5A014D98-6419-80DF-B284-13294DC59C2C}"/>
              </a:ext>
            </a:extLst>
          </p:cNvPr>
          <p:cNvSpPr>
            <a:spLocks noGrp="1"/>
          </p:cNvSpPr>
          <p:nvPr/>
        </p:nvSpPr>
        <p:spPr bwMode="auto">
          <a:xfrm>
            <a:off x="1127709" y="28714077"/>
            <a:ext cx="12049125" cy="627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321175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kumimoji="0" lang="en-US" altLang="ko-KR" sz="4400" b="1" u="sng" dirty="0">
                <a:solidFill>
                  <a:srgbClr val="003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Workflow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kumimoji="0" lang="en-US" altLang="ko-KR" sz="4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eaLnBrk="1" hangingPunct="1">
              <a:spcBef>
                <a:spcPct val="0"/>
              </a:spcBef>
              <a:buFontTx/>
              <a:buChar char="-"/>
              <a:defRPr/>
            </a:pPr>
            <a:endParaRPr lang="en-US" altLang="ko-K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eaLnBrk="1" hangingPunct="1">
              <a:spcBef>
                <a:spcPct val="0"/>
              </a:spcBef>
              <a:buFontTx/>
              <a:buChar char="-"/>
              <a:defRPr/>
            </a:pPr>
            <a:endParaRPr lang="en-US" altLang="ko-K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AA6E048-DEFE-E24A-4458-4F076FE6D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328287"/>
              </p:ext>
            </p:extLst>
          </p:nvPr>
        </p:nvGraphicFramePr>
        <p:xfrm>
          <a:off x="1216555" y="29947796"/>
          <a:ext cx="12164483" cy="608866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26769">
                  <a:extLst>
                    <a:ext uri="{9D8B030D-6E8A-4147-A177-3AD203B41FA5}">
                      <a16:colId xmlns:a16="http://schemas.microsoft.com/office/drawing/2014/main" val="1818128507"/>
                    </a:ext>
                  </a:extLst>
                </a:gridCol>
                <a:gridCol w="3969900">
                  <a:extLst>
                    <a:ext uri="{9D8B030D-6E8A-4147-A177-3AD203B41FA5}">
                      <a16:colId xmlns:a16="http://schemas.microsoft.com/office/drawing/2014/main" val="4103110805"/>
                    </a:ext>
                  </a:extLst>
                </a:gridCol>
                <a:gridCol w="4126693">
                  <a:extLst>
                    <a:ext uri="{9D8B030D-6E8A-4147-A177-3AD203B41FA5}">
                      <a16:colId xmlns:a16="http://schemas.microsoft.com/office/drawing/2014/main" val="74785470"/>
                    </a:ext>
                  </a:extLst>
                </a:gridCol>
                <a:gridCol w="3041121">
                  <a:extLst>
                    <a:ext uri="{9D8B030D-6E8A-4147-A177-3AD203B41FA5}">
                      <a16:colId xmlns:a16="http://schemas.microsoft.com/office/drawing/2014/main" val="4124091006"/>
                    </a:ext>
                  </a:extLst>
                </a:gridCol>
              </a:tblGrid>
              <a:tr h="635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b="1" dirty="0"/>
                        <a:t>Step</a:t>
                      </a:r>
                      <a:endParaRPr lang="ko-KR" altLang="en-US" sz="2800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b="1" dirty="0"/>
                        <a:t>Module</a:t>
                      </a:r>
                      <a:endParaRPr lang="ko-KR" altLang="en-US" sz="2800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b="1" dirty="0"/>
                        <a:t>Function</a:t>
                      </a:r>
                      <a:endParaRPr lang="ko-KR" altLang="en-US" sz="2800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b="1" dirty="0"/>
                        <a:t>Output</a:t>
                      </a:r>
                      <a:endParaRPr lang="ko-KR" altLang="en-US" sz="2800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934105"/>
                  </a:ext>
                </a:extLst>
              </a:tr>
              <a:tr h="1187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sz="2800" dirty="0"/>
                        <a:t>1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gpt-image-1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OCR + </a:t>
                      </a:r>
                      <a:r>
                        <a:rPr lang="en-US" altLang="ko-KR" sz="2800" dirty="0"/>
                        <a:t>Extract data</a:t>
                      </a:r>
                      <a:endParaRPr lang="ko-KR" altLang="en-US" sz="2800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raw JSON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701250"/>
                  </a:ext>
                </a:extLst>
              </a:tr>
              <a:tr h="1187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sz="2800" dirty="0"/>
                        <a:t>2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allergen_map_prompt_v2.json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SNOMED </a:t>
                      </a:r>
                      <a:r>
                        <a:rPr lang="ko-KR" altLang="en-US" sz="2800" dirty="0"/>
                        <a:t>화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standardized JSON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434874"/>
                  </a:ext>
                </a:extLst>
              </a:tr>
              <a:tr h="635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sz="2800" dirty="0"/>
                        <a:t>3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 err="1"/>
                        <a:t>allergyintolerance_builder.py</a:t>
                      </a:r>
                      <a:endParaRPr lang="en" sz="2800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HL7 FHIR </a:t>
                      </a:r>
                      <a:r>
                        <a:rPr lang="ko-KR" altLang="en-US" sz="2800" dirty="0"/>
                        <a:t>변환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FHIR JSON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043073"/>
                  </a:ext>
                </a:extLst>
              </a:tr>
              <a:tr h="635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sz="2800" dirty="0"/>
                        <a:t>4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Chatbot Feedback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증상 입력 </a:t>
                      </a:r>
                      <a:r>
                        <a:rPr lang="en-US" altLang="ko-KR" sz="2800" dirty="0"/>
                        <a:t>/ </a:t>
                      </a:r>
                      <a:r>
                        <a:rPr lang="ko-KR" altLang="en-US" sz="2800" dirty="0"/>
                        <a:t>분류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user-labeled JSON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654744"/>
                  </a:ext>
                </a:extLst>
              </a:tr>
              <a:tr h="1187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sz="2800" dirty="0"/>
                        <a:t>5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 err="1"/>
                        <a:t>allergy_management_reporter.py</a:t>
                      </a:r>
                      <a:endParaRPr lang="en" sz="2800" dirty="0"/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리포트 생성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800" dirty="0"/>
                        <a:t>PDF/Markdown</a:t>
                      </a:r>
                    </a:p>
                  </a:txBody>
                  <a:tcPr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157899"/>
                  </a:ext>
                </a:extLst>
              </a:tr>
            </a:tbl>
          </a:graphicData>
        </a:graphic>
      </p:graphicFrame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C769CEC2-E848-82A5-8767-6A2024DAB82A}"/>
              </a:ext>
            </a:extLst>
          </p:cNvPr>
          <p:cNvSpPr>
            <a:spLocks noGrp="1"/>
          </p:cNvSpPr>
          <p:nvPr/>
        </p:nvSpPr>
        <p:spPr bwMode="auto">
          <a:xfrm>
            <a:off x="14580509" y="7871685"/>
            <a:ext cx="5113866" cy="7230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321175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4400" b="1" u="sng" dirty="0">
                <a:solidFill>
                  <a:srgbClr val="003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3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5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5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ko-Kore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Inpur</a:t>
            </a:r>
            <a:r>
              <a:rPr lang="en-US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 files</a:t>
            </a:r>
            <a:endParaRPr lang="en" altLang="ko-Kore-K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A275D458-B870-34C3-508C-03614E1302A4}"/>
              </a:ext>
            </a:extLst>
          </p:cNvPr>
          <p:cNvSpPr>
            <a:spLocks noGrp="1"/>
          </p:cNvSpPr>
          <p:nvPr/>
        </p:nvSpPr>
        <p:spPr bwMode="auto">
          <a:xfrm>
            <a:off x="20647774" y="8726921"/>
            <a:ext cx="5113866" cy="7230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321175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3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5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5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OCR</a:t>
            </a:r>
            <a:r>
              <a:rPr lang="en-US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mapping </a:t>
            </a:r>
            <a:endParaRPr lang="en" altLang="ko-Kore-K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CD8C53D-8D67-0623-6A01-EB35D7EB22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16874" y="9872677"/>
            <a:ext cx="5113866" cy="459919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79A66A7-F5E0-D982-DCFA-5557F90C3D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93725" y="9832051"/>
            <a:ext cx="5067915" cy="469291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5E828DF-A273-1042-B747-6AB8333AE3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43196" y="15799339"/>
            <a:ext cx="4978400" cy="45847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22FAEBD-93B8-DC2A-EE79-45F5239D95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16873" y="15851691"/>
            <a:ext cx="5113865" cy="44577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939456D-406B-D89F-8040-F0CFDB90E820}"/>
              </a:ext>
            </a:extLst>
          </p:cNvPr>
          <p:cNvSpPr txBox="1"/>
          <p:nvPr/>
        </p:nvSpPr>
        <p:spPr>
          <a:xfrm>
            <a:off x="14561846" y="15062823"/>
            <a:ext cx="5897827" cy="59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FHIR Observation Resource</a:t>
            </a:r>
            <a:endParaRPr lang="en" altLang="ko-Kore-K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B03113-A680-BBB5-C2B3-BCB8153C3AB0}"/>
              </a:ext>
            </a:extLst>
          </p:cNvPr>
          <p:cNvSpPr txBox="1"/>
          <p:nvPr/>
        </p:nvSpPr>
        <p:spPr>
          <a:xfrm>
            <a:off x="20504371" y="15077610"/>
            <a:ext cx="5897827" cy="59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ko-Kore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Chatbot  </a:t>
            </a:r>
            <a:endParaRPr lang="en" altLang="ko-Kore-K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8DCAEE9-228F-C981-8AF9-8B2DB068D42B}"/>
              </a:ext>
            </a:extLst>
          </p:cNvPr>
          <p:cNvGrpSpPr/>
          <p:nvPr/>
        </p:nvGrpSpPr>
        <p:grpSpPr>
          <a:xfrm>
            <a:off x="14726495" y="21247077"/>
            <a:ext cx="11128217" cy="5193657"/>
            <a:chOff x="15412453" y="21328763"/>
            <a:chExt cx="14255040" cy="8916067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E336397-75B4-78A4-1342-7C0CA556F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412453" y="21354830"/>
              <a:ext cx="4864100" cy="8890000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BE14D45C-2E25-C82A-13A3-AF2D396C2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0046950" y="21341281"/>
              <a:ext cx="4826000" cy="7277100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2C0DE472-E504-9051-83E9-8CC3653DB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828793" y="21328763"/>
              <a:ext cx="4838700" cy="8496300"/>
            </a:xfrm>
            <a:prstGeom prst="rect">
              <a:avLst/>
            </a:prstGeom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7495C4C-221E-5ECF-9163-FA2E66C47DEA}"/>
              </a:ext>
            </a:extLst>
          </p:cNvPr>
          <p:cNvSpPr txBox="1"/>
          <p:nvPr/>
        </p:nvSpPr>
        <p:spPr>
          <a:xfrm>
            <a:off x="14561845" y="20641332"/>
            <a:ext cx="6131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ko-Kore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ko-Kore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FHIR </a:t>
            </a:r>
            <a:r>
              <a:rPr lang="en-US" altLang="ko-Kore-K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AllergyIntolerance</a:t>
            </a:r>
            <a:r>
              <a:rPr lang="en-US" altLang="ko-Kore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Resource</a:t>
            </a:r>
            <a:endParaRPr lang="en" altLang="ko-Kore-K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2814D2-DC2C-E34C-D64A-5FB711399295}"/>
              </a:ext>
            </a:extLst>
          </p:cNvPr>
          <p:cNvSpPr txBox="1"/>
          <p:nvPr/>
        </p:nvSpPr>
        <p:spPr>
          <a:xfrm>
            <a:off x="14561845" y="26637328"/>
            <a:ext cx="7940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ko-Kore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ko-Kore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Patient-centered Allergy Management Report</a:t>
            </a:r>
            <a:endParaRPr lang="en" altLang="ko-Kore-K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1851DEDD-B5E7-B80D-2817-ADA20A28CF5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07631" y="27394810"/>
            <a:ext cx="4636905" cy="421634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F042A87-F596-7C6A-80A7-0FD5DFCFB9E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367554" y="27404504"/>
            <a:ext cx="3774881" cy="4273705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7748FFE-77E7-E833-A115-346D07FC370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165453" y="27404505"/>
            <a:ext cx="3135336" cy="4273704"/>
          </a:xfrm>
          <a:prstGeom prst="rect">
            <a:avLst/>
          </a:prstGeom>
        </p:spPr>
      </p:pic>
      <p:sp>
        <p:nvSpPr>
          <p:cNvPr id="48" name="내용 개체 틀 2">
            <a:extLst>
              <a:ext uri="{FF2B5EF4-FFF2-40B4-BE49-F238E27FC236}">
                <a16:creationId xmlns:a16="http://schemas.microsoft.com/office/drawing/2014/main" id="{E3B5B7CB-CEC5-5187-0196-1F27F99DFBC0}"/>
              </a:ext>
            </a:extLst>
          </p:cNvPr>
          <p:cNvSpPr>
            <a:spLocks noGrp="1"/>
          </p:cNvSpPr>
          <p:nvPr/>
        </p:nvSpPr>
        <p:spPr bwMode="auto">
          <a:xfrm>
            <a:off x="14549155" y="31752796"/>
            <a:ext cx="11690633" cy="7230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13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1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•"/>
              <a:defRPr sz="9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321175" latinLnBrk="1">
              <a:spcBef>
                <a:spcPct val="20000"/>
              </a:spcBef>
              <a:buFont typeface="Arial" panose="020B0604020202020204" pitchFamily="34" charset="0"/>
              <a:buChar char="–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321175" latinLnBrk="1">
              <a:spcBef>
                <a:spcPct val="20000"/>
              </a:spcBef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321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4400" b="1" u="sng" dirty="0">
                <a:solidFill>
                  <a:srgbClr val="003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Impact &amp; </a:t>
            </a:r>
            <a:r>
              <a:rPr kumimoji="0" lang="en-US" altLang="ko-KR" sz="4400" b="1" u="sng" dirty="0" err="1">
                <a:solidFill>
                  <a:srgbClr val="003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Futyre</a:t>
            </a:r>
            <a:r>
              <a:rPr kumimoji="0" lang="en-US" altLang="ko-KR" sz="4400" b="1" u="sng" dirty="0">
                <a:solidFill>
                  <a:srgbClr val="003BB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Direction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3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5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" altLang="ko-Kore-KR" sz="2400" dirty="0"/>
              <a:t>This study enhances allergy data interoperability through the HL7 FHIR IPS framework, enabling seamless integration between EMR and personal health management systems. By automating patient-centered allergy data processing, it introduces an </a:t>
            </a:r>
            <a:r>
              <a:rPr lang="en" altLang="ko-Kore-KR" sz="2400" b="1" dirty="0"/>
              <a:t>AI-powered HL7 FHIR Generator</a:t>
            </a:r>
            <a:r>
              <a:rPr lang="en" altLang="ko-Kore-KR" sz="2400" dirty="0"/>
              <a:t> that simplifies standardized data conversion.</a:t>
            </a:r>
            <a:br>
              <a:rPr lang="en" altLang="ko-Kore-KR" sz="2400" dirty="0"/>
            </a:br>
            <a:endParaRPr lang="en" altLang="ko-Kore-KR" sz="2400" dirty="0"/>
          </a:p>
          <a:p>
            <a:pPr>
              <a:buNone/>
            </a:pPr>
            <a:r>
              <a:rPr lang="en" altLang="ko-Kore-KR" sz="2400" dirty="0"/>
              <a:t>Future development will expand the system to include </a:t>
            </a:r>
            <a:r>
              <a:rPr lang="en" altLang="ko-Kore-KR" sz="2400" b="1" dirty="0"/>
              <a:t>food and drug allergy modules</a:t>
            </a:r>
            <a:r>
              <a:rPr lang="en" altLang="ko-Kore-KR" sz="2400" dirty="0"/>
              <a:t>, </a:t>
            </a:r>
            <a:r>
              <a:rPr lang="en" altLang="ko-Kore-KR" sz="2400" b="1" dirty="0"/>
              <a:t>LLM-based symptom severity prediction</a:t>
            </a:r>
            <a:r>
              <a:rPr lang="en" altLang="ko-Kore-KR" sz="2400" dirty="0"/>
              <a:t>, and </a:t>
            </a:r>
            <a:r>
              <a:rPr lang="en" altLang="ko-Kore-KR" sz="2400" b="1" dirty="0"/>
              <a:t>multilingual FHIR report generation</a:t>
            </a:r>
            <a:r>
              <a:rPr lang="en" altLang="ko-Kore-KR" sz="2400" dirty="0"/>
              <a:t>. Integration with EMR systems via </a:t>
            </a:r>
            <a:r>
              <a:rPr lang="en" altLang="ko-Kore-KR" sz="2400" b="1" dirty="0"/>
              <a:t>FHIR POST APIs</a:t>
            </a:r>
            <a:r>
              <a:rPr lang="en" altLang="ko-Kore-KR" sz="2400" dirty="0"/>
              <a:t> will support real-time clinical data exchange, moving toward a fully interoperable and intelligent allergy management ecosystem.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ko-KR" sz="500" b="1" u="sng" dirty="0">
              <a:solidFill>
                <a:srgbClr val="003BB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7977</TotalTime>
  <Words>487</Words>
  <Application>Microsoft Macintosh PowerPoint</Application>
  <PresentationFormat>사용자 지정</PresentationFormat>
  <Paragraphs>62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Arial</vt:lpstr>
      <vt:lpstr>Tahoma</vt:lpstr>
      <vt:lpstr>Times New Roman</vt:lpstr>
      <vt:lpstr>Office 테마</vt:lpstr>
      <vt:lpstr>Development of a System Using Large Language Models to Convert Patient Allergy Test Results into HL7 FHIR AllergyIntolerance International Patient Summaries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Elderly Subjects with Wheezing in Epidemiologic Studies</dc:title>
  <dc:creator>snubh</dc:creator>
  <cp:lastModifiedBy>강민규</cp:lastModifiedBy>
  <cp:revision>285</cp:revision>
  <cp:lastPrinted>2013-05-08T04:24:50Z</cp:lastPrinted>
  <dcterms:created xsi:type="dcterms:W3CDTF">2011-10-04T01:47:57Z</dcterms:created>
  <dcterms:modified xsi:type="dcterms:W3CDTF">2025-10-11T22:03:09Z</dcterms:modified>
</cp:coreProperties>
</file>